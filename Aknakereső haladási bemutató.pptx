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13"/>
  </p:notesMasterIdLst>
  <p:sldIdLst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29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A75990-A4A1-4DDE-AA8D-73E60A452DD0}" type="datetimeFigureOut">
              <a:rPr lang="en-US" smtClean="0"/>
              <a:t>10/13/2026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75CD8D-B1D9-4658-A4F0-38CA8D83ED5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09802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808C238F-B856-42A4-BC32-194DCC130D5F}" type="datetime1">
              <a:rPr lang="en-US" smtClean="0"/>
              <a:t>10/13/2026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2C1CB5-A088-4DB4-8A5C-B084F9B2B528}" type="datetime1">
              <a:rPr lang="en-US" smtClean="0"/>
              <a:t>10/13/2026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3C1328-ADC8-435B-8F5C-D339CD9DD487}" type="datetime1">
              <a:rPr lang="en-US" smtClean="0"/>
              <a:t>10/13/2026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56410-64C5-4311-8359-FDA6B61ABBAE}" type="datetime1">
              <a:rPr lang="en-US" smtClean="0"/>
              <a:t>10/13/2026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18B01E-6E1B-4AFC-A690-27C447C9486E}" type="datetime1">
              <a:rPr lang="en-US" smtClean="0"/>
              <a:t>10/13/2026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52F3D2-503A-4E49-99AD-125A054E178F}" type="datetime1">
              <a:rPr lang="en-US" smtClean="0"/>
              <a:t>10/13/2026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66207-223C-48E4-AE22-548ABC801447}" type="datetime1">
              <a:rPr lang="en-US" smtClean="0"/>
              <a:t>10/13/2026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941151-B38C-4230-91F0-8A3BB69A056C}" type="datetime1">
              <a:rPr lang="en-US" smtClean="0"/>
              <a:t>10/13/2026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6EA29-EE45-46F5-8084-6929433FA14E}" type="datetime1">
              <a:rPr lang="en-US" smtClean="0"/>
              <a:t>10/13/2026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72680-3826-48D8-A0B9-F293E3A564DD}" type="datetime1">
              <a:rPr lang="en-US" smtClean="0"/>
              <a:t>10/13/2026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C0F02A-B435-4587-AE10-6A02865845FD}" type="datetime1">
              <a:rPr lang="en-US" smtClean="0"/>
              <a:t>10/13/2026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DF27A1-9C29-4918-BA16-87149545F673}" type="datetime1">
              <a:rPr lang="en-US" smtClean="0"/>
              <a:t>10/13/2026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EE601-4D27-49FF-B099-2799466F7EDA}" type="datetime1">
              <a:rPr lang="en-US" smtClean="0"/>
              <a:t>10/13/2026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E52469-603F-4B0F-8F23-6B2B143D5424}" type="datetime1">
              <a:rPr lang="en-US" smtClean="0"/>
              <a:t>10/13/2026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7781E0-05FC-475E-A14D-85EF9B55E67B}" type="datetime1">
              <a:rPr lang="en-US" smtClean="0"/>
              <a:t>10/13/2026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8D02C8-8352-4A2E-A3CD-139A8583C932}" type="datetime1">
              <a:rPr lang="en-US" smtClean="0"/>
              <a:t>10/13/2026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80581-4B77-41E9-BE55-C3C9C3900A2A}" type="datetime1">
              <a:rPr lang="en-US" smtClean="0"/>
              <a:t>10/13/2026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567B94D-50C4-4558-AAA1-857DDB1A21EF}" type="datetime1">
              <a:rPr lang="en-US" smtClean="0"/>
              <a:t>10/13/2026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>
            <a:extLst>
              <a:ext uri="{FF2B5EF4-FFF2-40B4-BE49-F238E27FC236}">
                <a16:creationId xmlns:a16="http://schemas.microsoft.com/office/drawing/2014/main" id="{AD579530-1077-46B3-BD5C-81BB270A1D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78" name="Rectangle 77">
              <a:extLst>
                <a:ext uri="{FF2B5EF4-FFF2-40B4-BE49-F238E27FC236}">
                  <a16:creationId xmlns:a16="http://schemas.microsoft.com/office/drawing/2014/main" id="{ACBB106A-B366-4349-B59F-E8FBDADD82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79" name="Picture 2">
              <a:extLst>
                <a:ext uri="{FF2B5EF4-FFF2-40B4-BE49-F238E27FC236}">
                  <a16:creationId xmlns:a16="http://schemas.microsoft.com/office/drawing/2014/main" id="{113FC03B-24E4-4A3F-9626-CC7F6356BC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 noChangeArrowheads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3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:p14="http://schemas.microsoft.com/office/powerpoint/2010/main" xmlns:a14="http://schemas.microsoft.com/office/drawing/2010/main" xmlns:a16="http://schemas.microsoft.com/office/drawing/2014/main" xmlns="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5" name="Picture 4" descr="close up of circuit board">
            <a:extLst>
              <a:ext uri="{FF2B5EF4-FFF2-40B4-BE49-F238E27FC236}">
                <a16:creationId xmlns:a16="http://schemas.microsoft.com/office/drawing/2014/main" id="{525AE681-57C0-4C44-9E88-A16CDA016EB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alphaModFix amt="30000"/>
          </a:blip>
          <a:srcRect t="6504" b="9202"/>
          <a:stretch/>
        </p:blipFill>
        <p:spPr>
          <a:xfrm>
            <a:off x="-2" y="10"/>
            <a:ext cx="12188389" cy="6857990"/>
          </a:xfrm>
          <a:prstGeom prst="rect">
            <a:avLst/>
          </a:prstGeom>
        </p:spPr>
      </p:pic>
      <p:grpSp>
        <p:nvGrpSpPr>
          <p:cNvPr id="81" name="Group 80">
            <a:extLst>
              <a:ext uri="{FF2B5EF4-FFF2-40B4-BE49-F238E27FC236}">
                <a16:creationId xmlns:a16="http://schemas.microsoft.com/office/drawing/2014/main" id="{83F79A5F-63B5-4802-B39B-BF0F89DDDA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05895" y="2235200"/>
            <a:ext cx="10982062" cy="2396067"/>
            <a:chOff x="605895" y="2235200"/>
            <a:chExt cx="10982062" cy="2396067"/>
          </a:xfrm>
        </p:grpSpPr>
        <p:sp>
          <p:nvSpPr>
            <p:cNvPr id="82" name="Round Diagonal Corner Rectangle 7">
              <a:extLst>
                <a:ext uri="{FF2B5EF4-FFF2-40B4-BE49-F238E27FC236}">
                  <a16:creationId xmlns:a16="http://schemas.microsoft.com/office/drawing/2014/main" id="{00D14BF7-A799-4EDA-8C19-CED0B8EC52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582333" y="2235200"/>
              <a:ext cx="7027334" cy="2396067"/>
            </a:xfrm>
            <a:prstGeom prst="round2DiagRect">
              <a:avLst>
                <a:gd name="adj1" fmla="val 9246"/>
                <a:gd name="adj2" fmla="val 0"/>
              </a:avLst>
            </a:prstGeom>
            <a:solidFill>
              <a:schemeClr val="bg1">
                <a:alpha val="80000"/>
              </a:schemeClr>
            </a:solidFill>
            <a:ln w="19050" cap="sq">
              <a:solidFill>
                <a:schemeClr val="tx2">
                  <a:alpha val="60000"/>
                </a:schemeClr>
              </a:solidFill>
              <a:miter lim="800000"/>
            </a:ln>
            <a:effectLst>
              <a:outerShdw blurRad="889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AF292344-73C8-4E53-85C0-8CDB23EB53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605895" y="2900097"/>
              <a:ext cx="10982062" cy="1211524"/>
              <a:chOff x="605895" y="2900097"/>
              <a:chExt cx="10982062" cy="1211524"/>
            </a:xfrm>
          </p:grpSpPr>
          <p:sp>
            <p:nvSpPr>
              <p:cNvPr id="84" name="Freeform 32">
                <a:extLst>
                  <a:ext uri="{FF2B5EF4-FFF2-40B4-BE49-F238E27FC236}">
                    <a16:creationId xmlns:a16="http://schemas.microsoft.com/office/drawing/2014/main" id="{4781E776-A0A7-4FB6-958B-8389BBA5697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 flipV="1">
                <a:off x="9653587" y="3379784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85" name="Freeform 33">
                <a:extLst>
                  <a:ext uri="{FF2B5EF4-FFF2-40B4-BE49-F238E27FC236}">
                    <a16:creationId xmlns:a16="http://schemas.microsoft.com/office/drawing/2014/main" id="{0F004D56-F177-45BC-8965-B72DB88A085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 flipV="1">
                <a:off x="10078244" y="3310728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86" name="Freeform 34">
                <a:extLst>
                  <a:ext uri="{FF2B5EF4-FFF2-40B4-BE49-F238E27FC236}">
                    <a16:creationId xmlns:a16="http://schemas.microsoft.com/office/drawing/2014/main" id="{5F2F1F83-817B-4678-B0AE-8FFDC49FC82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 flipV="1">
                <a:off x="11146631" y="3574253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87" name="Freeform 37">
                <a:extLst>
                  <a:ext uri="{FF2B5EF4-FFF2-40B4-BE49-F238E27FC236}">
                    <a16:creationId xmlns:a16="http://schemas.microsoft.com/office/drawing/2014/main" id="{F908EB47-32F4-4E82-BF56-FD25BB07474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 flipV="1">
                <a:off x="10230644" y="3034502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88" name="Freeform 35">
                <a:extLst>
                  <a:ext uri="{FF2B5EF4-FFF2-40B4-BE49-F238E27FC236}">
                    <a16:creationId xmlns:a16="http://schemas.microsoft.com/office/drawing/2014/main" id="{0966000D-B975-4E8A-9BF2-EACF2164050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10034587" y="256275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89" name="Freeform 36">
                <a:extLst>
                  <a:ext uri="{FF2B5EF4-FFF2-40B4-BE49-F238E27FC236}">
                    <a16:creationId xmlns:a16="http://schemas.microsoft.com/office/drawing/2014/main" id="{A9554499-6796-4AEE-B012-34A5B9A585A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10747375" y="3232679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90" name="Freeform 38">
                <a:extLst>
                  <a:ext uri="{FF2B5EF4-FFF2-40B4-BE49-F238E27FC236}">
                    <a16:creationId xmlns:a16="http://schemas.microsoft.com/office/drawing/2014/main" id="{9DD40864-34BD-491F-B591-180E7B32C12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11399044" y="3095360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91" name="Freeform 39">
                <a:extLst>
                  <a:ext uri="{FF2B5EF4-FFF2-40B4-BE49-F238E27FC236}">
                    <a16:creationId xmlns:a16="http://schemas.microsoft.com/office/drawing/2014/main" id="{2623F54C-4373-4D30-90DB-3129BDDF54A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10353675" y="2153178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92" name="Freeform 40">
                <a:extLst>
                  <a:ext uri="{FF2B5EF4-FFF2-40B4-BE49-F238E27FC236}">
                    <a16:creationId xmlns:a16="http://schemas.microsoft.com/office/drawing/2014/main" id="{1FF42884-D4B2-462F-9FA7-4FA89253224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9848850" y="330887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93" name="Rectangle 41">
                <a:extLst>
                  <a:ext uri="{FF2B5EF4-FFF2-40B4-BE49-F238E27FC236}">
                    <a16:creationId xmlns:a16="http://schemas.microsoft.com/office/drawing/2014/main" id="{27F4D4BA-37F5-4D54-BDFF-733F621D5DB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9721056" y="3284272"/>
                <a:ext cx="23813" cy="252413"/>
              </a:xfrm>
              <a:prstGeom prst="rect">
                <a:avLst/>
              </a:pr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94" name="Freeform 32">
                <a:extLst>
                  <a:ext uri="{FF2B5EF4-FFF2-40B4-BE49-F238E27FC236}">
                    <a16:creationId xmlns:a16="http://schemas.microsoft.com/office/drawing/2014/main" id="{29E4A0E5-0441-4563-A947-12A5781105E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 flipV="1">
                <a:off x="2122751" y="3532184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95" name="Freeform 33">
                <a:extLst>
                  <a:ext uri="{FF2B5EF4-FFF2-40B4-BE49-F238E27FC236}">
                    <a16:creationId xmlns:a16="http://schemas.microsoft.com/office/drawing/2014/main" id="{4A8D89B4-AD1B-410A-870B-1042E075A04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 flipV="1">
                <a:off x="1958445" y="3463128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96" name="Freeform 34">
                <a:extLst>
                  <a:ext uri="{FF2B5EF4-FFF2-40B4-BE49-F238E27FC236}">
                    <a16:creationId xmlns:a16="http://schemas.microsoft.com/office/drawing/2014/main" id="{DFC54570-9F45-44E6-AC94-4B3192D44B2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 flipV="1">
                <a:off x="858308" y="3726653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97" name="Freeform 37">
                <a:extLst>
                  <a:ext uri="{FF2B5EF4-FFF2-40B4-BE49-F238E27FC236}">
                    <a16:creationId xmlns:a16="http://schemas.microsoft.com/office/drawing/2014/main" id="{A976F76C-4BBB-4CD4-9270-5E4E8802BF7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 flipV="1">
                <a:off x="1658407" y="3186902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98" name="Freeform 35">
                <a:extLst>
                  <a:ext uri="{FF2B5EF4-FFF2-40B4-BE49-F238E27FC236}">
                    <a16:creationId xmlns:a16="http://schemas.microsoft.com/office/drawing/2014/main" id="{06081E5F-35E2-4E9E-A0DA-9E2F769C4CE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1860814" y="271515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99" name="Freeform 36">
                <a:extLst>
                  <a:ext uri="{FF2B5EF4-FFF2-40B4-BE49-F238E27FC236}">
                    <a16:creationId xmlns:a16="http://schemas.microsoft.com/office/drawing/2014/main" id="{7B7B4F78-1391-433D-AAE5-0FA8B8EE181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1289314" y="3385079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100" name="Freeform 38">
                <a:extLst>
                  <a:ext uri="{FF2B5EF4-FFF2-40B4-BE49-F238E27FC236}">
                    <a16:creationId xmlns:a16="http://schemas.microsoft.com/office/drawing/2014/main" id="{EF63F42B-29ED-4285-99D1-5FA657DA929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605895" y="3247760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101" name="Freeform 39">
                <a:extLst>
                  <a:ext uri="{FF2B5EF4-FFF2-40B4-BE49-F238E27FC236}">
                    <a16:creationId xmlns:a16="http://schemas.microsoft.com/office/drawing/2014/main" id="{EB7A6053-A7CF-4785-B396-6F70D6EBE9B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1532202" y="2305578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102" name="Freeform 40">
                <a:extLst>
                  <a:ext uri="{FF2B5EF4-FFF2-40B4-BE49-F238E27FC236}">
                    <a16:creationId xmlns:a16="http://schemas.microsoft.com/office/drawing/2014/main" id="{E6337518-A10D-47A5-BD86-6D1F3FAF3C9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2154501" y="346127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103" name="Rectangle 41">
                <a:extLst>
                  <a:ext uri="{FF2B5EF4-FFF2-40B4-BE49-F238E27FC236}">
                    <a16:creationId xmlns:a16="http://schemas.microsoft.com/office/drawing/2014/main" id="{7591C37F-6498-4992-992D-D413A84752D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2448983" y="3436672"/>
                <a:ext cx="23813" cy="252413"/>
              </a:xfrm>
              <a:prstGeom prst="rect">
                <a:avLst/>
              </a:pr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en-GB"/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D476017-D224-40AE-B921-6752545015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67000" y="2328334"/>
            <a:ext cx="6858000" cy="1367896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 err="1"/>
              <a:t>Aknakere</a:t>
            </a:r>
            <a:r>
              <a:rPr lang="hu-HU" dirty="0" err="1"/>
              <a:t>ső</a:t>
            </a:r>
            <a:r>
              <a:rPr lang="hu-HU" dirty="0"/>
              <a:t> haladási bemutató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1F013D4-CBD9-4FC1-AF91-2301A70448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67001" y="3602038"/>
            <a:ext cx="6857999" cy="953029"/>
          </a:xfrm>
        </p:spPr>
        <p:txBody>
          <a:bodyPr>
            <a:normAutofit/>
          </a:bodyPr>
          <a:lstStyle/>
          <a:p>
            <a:pPr algn="ctr"/>
            <a:r>
              <a:rPr lang="hu-HU" dirty="0"/>
              <a:t>Készítette: Varga Dániel Zsolt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71922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4" name="Group 173">
            <a:extLst>
              <a:ext uri="{FF2B5EF4-FFF2-40B4-BE49-F238E27FC236}">
                <a16:creationId xmlns:a16="http://schemas.microsoft.com/office/drawing/2014/main" id="{8E1DDAD8-1D10-4640-A034-BE90015E37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175" name="Rectangle 174">
              <a:extLst>
                <a:ext uri="{FF2B5EF4-FFF2-40B4-BE49-F238E27FC236}">
                  <a16:creationId xmlns:a16="http://schemas.microsoft.com/office/drawing/2014/main" id="{52FE7688-721D-4A97-B007-BDE056094D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76" name="Picture 2">
              <a:extLst>
                <a:ext uri="{FF2B5EF4-FFF2-40B4-BE49-F238E27FC236}">
                  <a16:creationId xmlns:a16="http://schemas.microsoft.com/office/drawing/2014/main" id="{9E73A810-8571-4A9D-A3CB-336933AB4C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 noChangeArrowheads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3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:p14="http://schemas.microsoft.com/office/powerpoint/2010/main" xmlns:a14="http://schemas.microsoft.com/office/drawing/2010/main" xmlns:a16="http://schemas.microsoft.com/office/drawing/2014/main" xmlns="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4" name="Picture 3" descr="close up of circuit board">
            <a:extLst>
              <a:ext uri="{FF2B5EF4-FFF2-40B4-BE49-F238E27FC236}">
                <a16:creationId xmlns:a16="http://schemas.microsoft.com/office/drawing/2014/main" id="{4B216623-4B59-4FC0-8E90-468349035D2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alphaModFix amt="30000"/>
          </a:blip>
          <a:srcRect l="17220" r="9210" b="-1"/>
          <a:stretch/>
        </p:blipFill>
        <p:spPr>
          <a:xfrm>
            <a:off x="-5597" y="10"/>
            <a:ext cx="7558541" cy="6857990"/>
          </a:xfrm>
          <a:prstGeom prst="rect">
            <a:avLst/>
          </a:prstGeom>
        </p:spPr>
      </p:pic>
      <p:grpSp>
        <p:nvGrpSpPr>
          <p:cNvPr id="178" name="Group 177">
            <a:extLst>
              <a:ext uri="{FF2B5EF4-FFF2-40B4-BE49-F238E27FC236}">
                <a16:creationId xmlns:a16="http://schemas.microsoft.com/office/drawing/2014/main" id="{FD642FB6-2808-4BC5-AE0B-7302C24B7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solidFill>
            <a:schemeClr val="tx1">
              <a:alpha val="70000"/>
            </a:schemeClr>
          </a:solidFill>
          <a:effectLst/>
        </p:grpSpPr>
        <p:sp>
          <p:nvSpPr>
            <p:cNvPr id="179" name="Rectangle 178">
              <a:extLst>
                <a:ext uri="{FF2B5EF4-FFF2-40B4-BE49-F238E27FC236}">
                  <a16:creationId xmlns:a16="http://schemas.microsoft.com/office/drawing/2014/main" id="{0B0B8F04-D9A7-48E5-A29C-51A66B59DF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180" name="Freeform 6">
              <a:extLst>
                <a:ext uri="{FF2B5EF4-FFF2-40B4-BE49-F238E27FC236}">
                  <a16:creationId xmlns:a16="http://schemas.microsoft.com/office/drawing/2014/main" id="{D6D18883-6BFF-42BB-8088-FCCF83F9CF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181" name="Freeform 7">
              <a:extLst>
                <a:ext uri="{FF2B5EF4-FFF2-40B4-BE49-F238E27FC236}">
                  <a16:creationId xmlns:a16="http://schemas.microsoft.com/office/drawing/2014/main" id="{1D0FEFB3-A009-4D0F-9107-C0B17786FB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182" name="Rectangle 181">
              <a:extLst>
                <a:ext uri="{FF2B5EF4-FFF2-40B4-BE49-F238E27FC236}">
                  <a16:creationId xmlns:a16="http://schemas.microsoft.com/office/drawing/2014/main" id="{78E86C7F-B981-4448-8A1A-856F7124FF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183" name="Freeform 9">
              <a:extLst>
                <a:ext uri="{FF2B5EF4-FFF2-40B4-BE49-F238E27FC236}">
                  <a16:creationId xmlns:a16="http://schemas.microsoft.com/office/drawing/2014/main" id="{4C6CFFD9-BA00-4184-8310-5FC9550954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184" name="Freeform 10">
              <a:extLst>
                <a:ext uri="{FF2B5EF4-FFF2-40B4-BE49-F238E27FC236}">
                  <a16:creationId xmlns:a16="http://schemas.microsoft.com/office/drawing/2014/main" id="{A1892DF3-4848-496C-8664-DFD32EE250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185" name="Freeform 11">
              <a:extLst>
                <a:ext uri="{FF2B5EF4-FFF2-40B4-BE49-F238E27FC236}">
                  <a16:creationId xmlns:a16="http://schemas.microsoft.com/office/drawing/2014/main" id="{D6DB8C30-651E-4D8F-A70C-163FC58427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186" name="Freeform 12">
              <a:extLst>
                <a:ext uri="{FF2B5EF4-FFF2-40B4-BE49-F238E27FC236}">
                  <a16:creationId xmlns:a16="http://schemas.microsoft.com/office/drawing/2014/main" id="{563DFB81-F969-4F44-BA6C-6347956423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187" name="Freeform 13">
              <a:extLst>
                <a:ext uri="{FF2B5EF4-FFF2-40B4-BE49-F238E27FC236}">
                  <a16:creationId xmlns:a16="http://schemas.microsoft.com/office/drawing/2014/main" id="{8E5DE346-AFCA-40DA-B5E2-93A86EA54C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188" name="Freeform 14">
              <a:extLst>
                <a:ext uri="{FF2B5EF4-FFF2-40B4-BE49-F238E27FC236}">
                  <a16:creationId xmlns:a16="http://schemas.microsoft.com/office/drawing/2014/main" id="{77A34306-2AE8-43D0-9686-E97B3B53FE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189" name="Freeform 15">
              <a:extLst>
                <a:ext uri="{FF2B5EF4-FFF2-40B4-BE49-F238E27FC236}">
                  <a16:creationId xmlns:a16="http://schemas.microsoft.com/office/drawing/2014/main" id="{B9CC10F0-FFCD-4CB9-AF4C-22722D20B7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190" name="Freeform 16">
              <a:extLst>
                <a:ext uri="{FF2B5EF4-FFF2-40B4-BE49-F238E27FC236}">
                  <a16:creationId xmlns:a16="http://schemas.microsoft.com/office/drawing/2014/main" id="{2A6B0E38-C962-4491-BFDA-75378B4D67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191" name="Freeform 17">
              <a:extLst>
                <a:ext uri="{FF2B5EF4-FFF2-40B4-BE49-F238E27FC236}">
                  <a16:creationId xmlns:a16="http://schemas.microsoft.com/office/drawing/2014/main" id="{655F640B-8407-487C-8696-F47451478E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192" name="Freeform 18">
              <a:extLst>
                <a:ext uri="{FF2B5EF4-FFF2-40B4-BE49-F238E27FC236}">
                  <a16:creationId xmlns:a16="http://schemas.microsoft.com/office/drawing/2014/main" id="{FAB4F099-4FF6-4410-A5B9-2A5355719C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193" name="Freeform 19">
              <a:extLst>
                <a:ext uri="{FF2B5EF4-FFF2-40B4-BE49-F238E27FC236}">
                  <a16:creationId xmlns:a16="http://schemas.microsoft.com/office/drawing/2014/main" id="{6FE80B6E-3DA9-4304-9925-12E578C4E9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194" name="Freeform 20">
              <a:extLst>
                <a:ext uri="{FF2B5EF4-FFF2-40B4-BE49-F238E27FC236}">
                  <a16:creationId xmlns:a16="http://schemas.microsoft.com/office/drawing/2014/main" id="{67D1CB75-0CBA-4E13-924C-21F221D7BF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195" name="Freeform 21">
              <a:extLst>
                <a:ext uri="{FF2B5EF4-FFF2-40B4-BE49-F238E27FC236}">
                  <a16:creationId xmlns:a16="http://schemas.microsoft.com/office/drawing/2014/main" id="{F2CC783B-FA45-4777-A76A-982B285C7C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196" name="Freeform 22">
              <a:extLst>
                <a:ext uri="{FF2B5EF4-FFF2-40B4-BE49-F238E27FC236}">
                  <a16:creationId xmlns:a16="http://schemas.microsoft.com/office/drawing/2014/main" id="{D68F4DD3-D736-4B78-972E-F5128CFBE7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197" name="Freeform 23">
              <a:extLst>
                <a:ext uri="{FF2B5EF4-FFF2-40B4-BE49-F238E27FC236}">
                  <a16:creationId xmlns:a16="http://schemas.microsoft.com/office/drawing/2014/main" id="{B14AF103-15B3-4796-A71A-297D37E176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198" name="Freeform 24">
              <a:extLst>
                <a:ext uri="{FF2B5EF4-FFF2-40B4-BE49-F238E27FC236}">
                  <a16:creationId xmlns:a16="http://schemas.microsoft.com/office/drawing/2014/main" id="{B0B240FB-0453-4B6F-9F9B-C2C3305AC5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199" name="Freeform 25">
              <a:extLst>
                <a:ext uri="{FF2B5EF4-FFF2-40B4-BE49-F238E27FC236}">
                  <a16:creationId xmlns:a16="http://schemas.microsoft.com/office/drawing/2014/main" id="{EBBBDCEE-433E-40F3-B49D-375CB162A8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00" name="Freeform 26">
              <a:extLst>
                <a:ext uri="{FF2B5EF4-FFF2-40B4-BE49-F238E27FC236}">
                  <a16:creationId xmlns:a16="http://schemas.microsoft.com/office/drawing/2014/main" id="{09B123C6-141E-4A37-B5A7-27E7764FA1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01" name="Freeform 27">
              <a:extLst>
                <a:ext uri="{FF2B5EF4-FFF2-40B4-BE49-F238E27FC236}">
                  <a16:creationId xmlns:a16="http://schemas.microsoft.com/office/drawing/2014/main" id="{1FA1F521-36A1-49FF-84A7-229E8970F7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02" name="Freeform 28">
              <a:extLst>
                <a:ext uri="{FF2B5EF4-FFF2-40B4-BE49-F238E27FC236}">
                  <a16:creationId xmlns:a16="http://schemas.microsoft.com/office/drawing/2014/main" id="{DE512F89-D901-4487-A42C-02345EC5FC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03" name="Freeform 29">
              <a:extLst>
                <a:ext uri="{FF2B5EF4-FFF2-40B4-BE49-F238E27FC236}">
                  <a16:creationId xmlns:a16="http://schemas.microsoft.com/office/drawing/2014/main" id="{ED3ED0E5-3226-4B78-B3EA-C591824B89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04" name="Freeform 30">
              <a:extLst>
                <a:ext uri="{FF2B5EF4-FFF2-40B4-BE49-F238E27FC236}">
                  <a16:creationId xmlns:a16="http://schemas.microsoft.com/office/drawing/2014/main" id="{9CBB1F68-B6DE-4ECF-B20F-328F9811E2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05" name="Freeform 31">
              <a:extLst>
                <a:ext uri="{FF2B5EF4-FFF2-40B4-BE49-F238E27FC236}">
                  <a16:creationId xmlns:a16="http://schemas.microsoft.com/office/drawing/2014/main" id="{A566C551-9523-4D97-A8CF-5C91F436C5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06" name="Freeform 32">
              <a:extLst>
                <a:ext uri="{FF2B5EF4-FFF2-40B4-BE49-F238E27FC236}">
                  <a16:creationId xmlns:a16="http://schemas.microsoft.com/office/drawing/2014/main" id="{9E166BA0-9268-4419-9332-2D30C21239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07" name="Rectangle 206">
              <a:extLst>
                <a:ext uri="{FF2B5EF4-FFF2-40B4-BE49-F238E27FC236}">
                  <a16:creationId xmlns:a16="http://schemas.microsoft.com/office/drawing/2014/main" id="{B700C031-AA54-4DC7-B8A2-2569B3FA65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08" name="Freeform 34">
              <a:extLst>
                <a:ext uri="{FF2B5EF4-FFF2-40B4-BE49-F238E27FC236}">
                  <a16:creationId xmlns:a16="http://schemas.microsoft.com/office/drawing/2014/main" id="{03045EC8-ECC8-473F-8786-DE266F05B1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09" name="Freeform 35">
              <a:extLst>
                <a:ext uri="{FF2B5EF4-FFF2-40B4-BE49-F238E27FC236}">
                  <a16:creationId xmlns:a16="http://schemas.microsoft.com/office/drawing/2014/main" id="{9337EBA2-5088-4A44-8C0B-A6EE78989C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10" name="Freeform 36">
              <a:extLst>
                <a:ext uri="{FF2B5EF4-FFF2-40B4-BE49-F238E27FC236}">
                  <a16:creationId xmlns:a16="http://schemas.microsoft.com/office/drawing/2014/main" id="{3486A705-2593-45C9-A13E-8E2FB7C354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11" name="Freeform 37">
              <a:extLst>
                <a:ext uri="{FF2B5EF4-FFF2-40B4-BE49-F238E27FC236}">
                  <a16:creationId xmlns:a16="http://schemas.microsoft.com/office/drawing/2014/main" id="{F357321C-6DEE-4D02-A997-75E47EE0E0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12" name="Freeform 38">
              <a:extLst>
                <a:ext uri="{FF2B5EF4-FFF2-40B4-BE49-F238E27FC236}">
                  <a16:creationId xmlns:a16="http://schemas.microsoft.com/office/drawing/2014/main" id="{D0B8F87F-3530-4BCD-A8E5-C1B83707B5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13" name="Freeform 39">
              <a:extLst>
                <a:ext uri="{FF2B5EF4-FFF2-40B4-BE49-F238E27FC236}">
                  <a16:creationId xmlns:a16="http://schemas.microsoft.com/office/drawing/2014/main" id="{5BE86BA3-AB0E-4F70-A552-0D9EB9E98E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14" name="Freeform 40">
              <a:extLst>
                <a:ext uri="{FF2B5EF4-FFF2-40B4-BE49-F238E27FC236}">
                  <a16:creationId xmlns:a16="http://schemas.microsoft.com/office/drawing/2014/main" id="{DF5FE773-B9AE-4A3F-8EDC-165CE579BD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15" name="Freeform 41">
              <a:extLst>
                <a:ext uri="{FF2B5EF4-FFF2-40B4-BE49-F238E27FC236}">
                  <a16:creationId xmlns:a16="http://schemas.microsoft.com/office/drawing/2014/main" id="{4A03D7BE-B358-4F8B-85EA-65E0CBF2D1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16" name="Freeform 42">
              <a:extLst>
                <a:ext uri="{FF2B5EF4-FFF2-40B4-BE49-F238E27FC236}">
                  <a16:creationId xmlns:a16="http://schemas.microsoft.com/office/drawing/2014/main" id="{A6548877-0957-435B-A419-389A278E57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17" name="Freeform 43">
              <a:extLst>
                <a:ext uri="{FF2B5EF4-FFF2-40B4-BE49-F238E27FC236}">
                  <a16:creationId xmlns:a16="http://schemas.microsoft.com/office/drawing/2014/main" id="{B2D5EA95-9E60-468A-8DA1-40F05C9BDA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18" name="Freeform 44">
              <a:extLst>
                <a:ext uri="{FF2B5EF4-FFF2-40B4-BE49-F238E27FC236}">
                  <a16:creationId xmlns:a16="http://schemas.microsoft.com/office/drawing/2014/main" id="{C9B409CE-11E5-40D1-8C9B-86614EAE2A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19" name="Rectangle 218">
              <a:extLst>
                <a:ext uri="{FF2B5EF4-FFF2-40B4-BE49-F238E27FC236}">
                  <a16:creationId xmlns:a16="http://schemas.microsoft.com/office/drawing/2014/main" id="{9E594AF5-DB50-4227-AC2F-10EE5233C4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20" name="Freeform 46">
              <a:extLst>
                <a:ext uri="{FF2B5EF4-FFF2-40B4-BE49-F238E27FC236}">
                  <a16:creationId xmlns:a16="http://schemas.microsoft.com/office/drawing/2014/main" id="{9335DCAF-74A2-4994-B5BF-1C079A40A5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21" name="Freeform 47">
              <a:extLst>
                <a:ext uri="{FF2B5EF4-FFF2-40B4-BE49-F238E27FC236}">
                  <a16:creationId xmlns:a16="http://schemas.microsoft.com/office/drawing/2014/main" id="{1DC8E1A2-0C6B-4BA9-85F4-3645AED5DE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22" name="Freeform 48">
              <a:extLst>
                <a:ext uri="{FF2B5EF4-FFF2-40B4-BE49-F238E27FC236}">
                  <a16:creationId xmlns:a16="http://schemas.microsoft.com/office/drawing/2014/main" id="{28F38DE0-3BEE-441A-8212-E77DA2328A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23" name="Freeform 49">
              <a:extLst>
                <a:ext uri="{FF2B5EF4-FFF2-40B4-BE49-F238E27FC236}">
                  <a16:creationId xmlns:a16="http://schemas.microsoft.com/office/drawing/2014/main" id="{AE81208E-D239-496C-A312-506B0241B3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24" name="Freeform 50">
              <a:extLst>
                <a:ext uri="{FF2B5EF4-FFF2-40B4-BE49-F238E27FC236}">
                  <a16:creationId xmlns:a16="http://schemas.microsoft.com/office/drawing/2014/main" id="{242FE966-DDA4-4668-B8D6-C4B0D4C78E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25" name="Freeform 51">
              <a:extLst>
                <a:ext uri="{FF2B5EF4-FFF2-40B4-BE49-F238E27FC236}">
                  <a16:creationId xmlns:a16="http://schemas.microsoft.com/office/drawing/2014/main" id="{FB0A5F60-550F-4025-9DCE-6F42A7C064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26" name="Freeform 52">
              <a:extLst>
                <a:ext uri="{FF2B5EF4-FFF2-40B4-BE49-F238E27FC236}">
                  <a16:creationId xmlns:a16="http://schemas.microsoft.com/office/drawing/2014/main" id="{D7B61D18-4A61-44C9-A809-40639E8C1D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27" name="Freeform 53">
              <a:extLst>
                <a:ext uri="{FF2B5EF4-FFF2-40B4-BE49-F238E27FC236}">
                  <a16:creationId xmlns:a16="http://schemas.microsoft.com/office/drawing/2014/main" id="{CB26E7EB-DC12-4BA7-B5DE-09EF2C1D0A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28" name="Freeform 54">
              <a:extLst>
                <a:ext uri="{FF2B5EF4-FFF2-40B4-BE49-F238E27FC236}">
                  <a16:creationId xmlns:a16="http://schemas.microsoft.com/office/drawing/2014/main" id="{921237B4-9D85-4611-851F-5DBD71544A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29" name="Freeform 55">
              <a:extLst>
                <a:ext uri="{FF2B5EF4-FFF2-40B4-BE49-F238E27FC236}">
                  <a16:creationId xmlns:a16="http://schemas.microsoft.com/office/drawing/2014/main" id="{C91509DE-9FAA-4E84-BCC1-CDDBEA8AC0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30" name="Freeform 56">
              <a:extLst>
                <a:ext uri="{FF2B5EF4-FFF2-40B4-BE49-F238E27FC236}">
                  <a16:creationId xmlns:a16="http://schemas.microsoft.com/office/drawing/2014/main" id="{C7029B06-6A09-4E46-BA86-F3C66DBDD4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31" name="Freeform 57">
              <a:extLst>
                <a:ext uri="{FF2B5EF4-FFF2-40B4-BE49-F238E27FC236}">
                  <a16:creationId xmlns:a16="http://schemas.microsoft.com/office/drawing/2014/main" id="{FF4ACFBF-D1F2-47B1-B0EB-F08C6508BD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32" name="Freeform 58">
              <a:extLst>
                <a:ext uri="{FF2B5EF4-FFF2-40B4-BE49-F238E27FC236}">
                  <a16:creationId xmlns:a16="http://schemas.microsoft.com/office/drawing/2014/main" id="{A6FD1991-3A0E-4F63-BAD9-A98C298604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A6BCF94-F108-4D92-8C4F-CD9273947A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62519" y="618518"/>
            <a:ext cx="3084891" cy="1478570"/>
          </a:xfrm>
        </p:spPr>
        <p:txBody>
          <a:bodyPr>
            <a:normAutofit/>
          </a:bodyPr>
          <a:lstStyle/>
          <a:p>
            <a:r>
              <a:rPr lang="hu-HU" sz="3200" dirty="0"/>
              <a:t>Haladási összefoglaló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399AB7-9E36-4EAD-B44A-9E0CEA24AA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62519" y="2249487"/>
            <a:ext cx="3084892" cy="3541714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hu-HU" sz="1600" dirty="0"/>
              <a:t>1. hét (szept. 11. - 17.)</a:t>
            </a:r>
          </a:p>
          <a:p>
            <a:pPr lvl="1">
              <a:lnSpc>
                <a:spcPct val="110000"/>
              </a:lnSpc>
            </a:pPr>
            <a:r>
              <a:rPr lang="hu-HU" sz="1200" dirty="0"/>
              <a:t>Az aknamező generálása</a:t>
            </a:r>
          </a:p>
          <a:p>
            <a:pPr>
              <a:lnSpc>
                <a:spcPct val="110000"/>
              </a:lnSpc>
            </a:pPr>
            <a:r>
              <a:rPr lang="hu-HU" sz="1600" dirty="0"/>
              <a:t>2. hét (szept. 18. - 24.)</a:t>
            </a:r>
          </a:p>
          <a:p>
            <a:pPr lvl="1">
              <a:lnSpc>
                <a:spcPct val="110000"/>
              </a:lnSpc>
            </a:pPr>
            <a:r>
              <a:rPr lang="hu-HU" sz="1200" dirty="0"/>
              <a:t>A mező kirajzolása és működése</a:t>
            </a:r>
          </a:p>
          <a:p>
            <a:pPr>
              <a:lnSpc>
                <a:spcPct val="110000"/>
              </a:lnSpc>
            </a:pPr>
            <a:r>
              <a:rPr lang="hu-HU" sz="1600" dirty="0"/>
              <a:t>3. hét (szept. 25. - okt. 1.)</a:t>
            </a:r>
          </a:p>
          <a:p>
            <a:pPr lvl="1">
              <a:lnSpc>
                <a:spcPct val="110000"/>
              </a:lnSpc>
            </a:pPr>
            <a:r>
              <a:rPr lang="hu-HU" sz="1200" dirty="0"/>
              <a:t>Végeredmény ellenőrzése</a:t>
            </a:r>
          </a:p>
          <a:p>
            <a:pPr>
              <a:lnSpc>
                <a:spcPct val="110000"/>
              </a:lnSpc>
            </a:pPr>
            <a:r>
              <a:rPr lang="hu-HU" sz="1600" dirty="0"/>
              <a:t>4. hét (okt. 2. - okt. 8.)</a:t>
            </a:r>
          </a:p>
          <a:p>
            <a:pPr lvl="1">
              <a:lnSpc>
                <a:spcPct val="110000"/>
              </a:lnSpc>
            </a:pPr>
            <a:r>
              <a:rPr lang="hu-HU" sz="1200" dirty="0"/>
              <a:t>Kezdőmenü elkészítése</a:t>
            </a:r>
          </a:p>
          <a:p>
            <a:pPr>
              <a:lnSpc>
                <a:spcPct val="110000"/>
              </a:lnSpc>
            </a:pPr>
            <a:r>
              <a:rPr lang="hu-HU" sz="1600" dirty="0"/>
              <a:t>5. hét (okt. 9. - okt. 13.)</a:t>
            </a:r>
          </a:p>
          <a:p>
            <a:pPr lvl="1">
              <a:lnSpc>
                <a:spcPct val="110000"/>
              </a:lnSpc>
            </a:pPr>
            <a:r>
              <a:rPr lang="hu-HU" sz="1200" dirty="0"/>
              <a:t>Utolsó simítások, dokumentáció</a:t>
            </a:r>
            <a:endParaRPr lang="en-US" sz="12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935F68A-B5D9-9D9A-8119-F321E7F12D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66988" y="562769"/>
            <a:ext cx="4549547" cy="136214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F91A0E6-8719-E194-B18F-0748726B7D8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43200" y="2416969"/>
            <a:ext cx="3069500" cy="3561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48493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384C1B-E00E-4F3C-8811-4B7B1165D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1. Hét – aknamező 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924B40-A025-44C1-AC9C-FAF6C6432C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hu-HU" dirty="0"/>
              <a:t>Egy külön fájlban elkészítettem az aknamező generálásához szükséges algoritmust.</a:t>
            </a:r>
          </a:p>
          <a:p>
            <a:r>
              <a:rPr lang="hu-HU" dirty="0"/>
              <a:t>Az függvény 3 bemenettel rendelkezik,</a:t>
            </a:r>
          </a:p>
          <a:p>
            <a:pPr lvl="1"/>
            <a:r>
              <a:rPr lang="hu-HU" dirty="0" err="1"/>
              <a:t>width</a:t>
            </a:r>
            <a:r>
              <a:rPr lang="hu-HU" dirty="0"/>
              <a:t> (int): az aknamező szélessége,</a:t>
            </a:r>
          </a:p>
          <a:p>
            <a:pPr lvl="1"/>
            <a:r>
              <a:rPr lang="hu-HU" dirty="0" err="1"/>
              <a:t>height</a:t>
            </a:r>
            <a:r>
              <a:rPr lang="hu-HU" dirty="0"/>
              <a:t> (int): annak magassága, és</a:t>
            </a:r>
          </a:p>
          <a:p>
            <a:pPr lvl="1"/>
            <a:r>
              <a:rPr lang="hu-HU" dirty="0" err="1"/>
              <a:t>mines</a:t>
            </a:r>
            <a:r>
              <a:rPr lang="hu-HU" dirty="0"/>
              <a:t> (int): az azon található aknák mennyisége.</a:t>
            </a:r>
          </a:p>
          <a:p>
            <a:r>
              <a:rPr lang="hu-HU" dirty="0"/>
              <a:t>A kimenete egy „</a:t>
            </a:r>
            <a:r>
              <a:rPr lang="hu-HU" dirty="0" err="1"/>
              <a:t>game.mines</a:t>
            </a:r>
            <a:r>
              <a:rPr lang="hu-HU" dirty="0"/>
              <a:t>” nevű fájl, mely kódoltan tartalmazza az összes adatot, hogy a fájl megnyitásával ne lehessen csalni.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568630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C942D5-563D-439B-8745-0247949D5F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2. Hét – aknamező rajzolása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FDF1C0-3122-4BC0-A68C-FC56CED839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Itt kezdődött el a „main.py” program fejlesztése.</a:t>
            </a:r>
            <a:br>
              <a:rPr lang="hu-HU" dirty="0"/>
            </a:br>
            <a:r>
              <a:rPr lang="hu-HU" dirty="0"/>
              <a:t>Grafikus felülethez a „</a:t>
            </a:r>
            <a:r>
              <a:rPr lang="hu-HU" dirty="0" err="1"/>
              <a:t>tkinter</a:t>
            </a:r>
            <a:r>
              <a:rPr lang="hu-HU" dirty="0"/>
              <a:t>” nevű könyvtárat használtam.</a:t>
            </a:r>
          </a:p>
          <a:p>
            <a:r>
              <a:rPr lang="hu-HU" dirty="0"/>
              <a:t>Az aknamező gombokból készült a határok egyszerűbb meghasználása és a kattintásra való reagálás egyszerűbb feldolgozása szempontjából.</a:t>
            </a:r>
          </a:p>
          <a:p>
            <a:r>
              <a:rPr lang="hu-HU" dirty="0"/>
              <a:t>Minden gomb megrajzoláskor teljesen üres, mérete előre meghatározott.</a:t>
            </a:r>
          </a:p>
        </p:txBody>
      </p:sp>
    </p:spTree>
    <p:extLst>
      <p:ext uri="{BB962C8B-B14F-4D97-AF65-F5344CB8AC3E}">
        <p14:creationId xmlns:p14="http://schemas.microsoft.com/office/powerpoint/2010/main" val="36348547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C9FA2-856C-4E9D-87D9-28299D8F5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2. Hét – alap játékfunkciók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5EF11-17EA-4481-82DB-F07E67954D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Bal kattintás hatására a mező fel lesz fedve (megjelenik a rajta levő szám).</a:t>
            </a:r>
          </a:p>
          <a:p>
            <a:pPr lvl="1"/>
            <a:r>
              <a:rPr lang="hu-HU" dirty="0"/>
              <a:t>Amennyiben ez a szám „0” a körülötte lévő 8 mező is felfedődik.</a:t>
            </a:r>
          </a:p>
          <a:p>
            <a:r>
              <a:rPr lang="hu-HU" dirty="0"/>
              <a:t>Jobb kattintásra a mező vörössé változik, mely megakadályozza annak felfedését, ezzel megjelölve egy akna pozícióját.</a:t>
            </a:r>
          </a:p>
          <a:p>
            <a:pPr lvl="1"/>
            <a:r>
              <a:rPr lang="hu-HU" dirty="0"/>
              <a:t>Ez a jelzés csak a felhasználónak ad segítséget. A nyeréshez nem szükséges egy aknát sem megjelölni.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4661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59272-D108-4F20-A2B1-02EA7C7297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3. Hét – az eredmény eldöntése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ED594E-36E6-4947-BFD3-1F3BB9CD97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Ki lett bővítve a bal kattintással meghívható függvény, hogy írjon ki egy üzenetet és utána zárja be a programot (a játékot elvesztette a felhasználó).</a:t>
            </a:r>
          </a:p>
          <a:p>
            <a:r>
              <a:rPr lang="hu-HU" dirty="0"/>
              <a:t>Elkészült egy függvény, mely minden bal kattintás után lefut és ellenőrzi, hogy fel van e nyitva az összes nem aknát tartalmazó mező.</a:t>
            </a:r>
          </a:p>
        </p:txBody>
      </p:sp>
    </p:spTree>
    <p:extLst>
      <p:ext uri="{BB962C8B-B14F-4D97-AF65-F5344CB8AC3E}">
        <p14:creationId xmlns:p14="http://schemas.microsoft.com/office/powerpoint/2010/main" val="17465905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A943D7-4BB7-4885-AC9C-D90DB984E4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4. Hét – kezdőmenü elkészítése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424884-4D2F-4631-A18B-E523D9B570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 </a:t>
            </a:r>
            <a:r>
              <a:rPr lang="hu-HU" dirty="0"/>
              <a:t>kezdő ablak elkészítése, majd bezárása kattintásra.</a:t>
            </a:r>
          </a:p>
          <a:p>
            <a:r>
              <a:rPr lang="hu-HU" dirty="0"/>
              <a:t>3+1 gomb és azok függvényeinek elkészítése a nehézségi szinteknek és a személyre szabható aknamezőnek.</a:t>
            </a:r>
          </a:p>
          <a:p>
            <a:r>
              <a:rPr lang="hu-HU" dirty="0"/>
              <a:t>Saját aknamező készítéséhez az ablak elkészítése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275464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A5656F-6EE6-D5A7-A90E-EE10012507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5. Hét – utolsó simítások, dokumentáció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635510-E5BF-5EF2-CE44-70A7E08530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Befejeződtek a végső hibajavítások, a kezemből kiadhatónak éreztem a munkámat.</a:t>
            </a:r>
          </a:p>
          <a:p>
            <a:r>
              <a:rPr lang="hu-HU" dirty="0"/>
              <a:t>Elkészítettem a kétféle dokumentációt:</a:t>
            </a:r>
          </a:p>
          <a:p>
            <a:pPr lvl="1"/>
            <a:r>
              <a:rPr lang="hu-HU" dirty="0"/>
              <a:t>Felhasználói: Illusztrációkkal bővített,</a:t>
            </a:r>
          </a:p>
          <a:p>
            <a:pPr lvl="1"/>
            <a:r>
              <a:rPr lang="hu-HU" dirty="0"/>
              <a:t>Fejlesztői: Csak szöveg.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5898561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9677210f24a1be23c92c90fd886aa0aa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60e05723c5c1908df1a1a4ebf11d344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C41CBB0-BAA0-4983-8F2B-E10AF3358DA8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104C6BCC-A38B-4625-90E6-7D3BBA3909A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096F0E7-E7B5-406E-8E94-F0043B2AC7F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Circuit design</Template>
  <TotalTime>86</TotalTime>
  <Words>419</Words>
  <Application>Microsoft Office PowerPoint</Application>
  <PresentationFormat>Widescreen</PresentationFormat>
  <Paragraphs>41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Tw Cen MT</vt:lpstr>
      <vt:lpstr>Circuit</vt:lpstr>
      <vt:lpstr>Aknakereső haladási bemutató</vt:lpstr>
      <vt:lpstr>Haladási összefoglaló</vt:lpstr>
      <vt:lpstr>1. Hét – aknamező </vt:lpstr>
      <vt:lpstr>2. Hét – aknamező rajzolása</vt:lpstr>
      <vt:lpstr>2. Hét – alap játékfunkciók</vt:lpstr>
      <vt:lpstr>3. Hét – az eredmény eldöntése</vt:lpstr>
      <vt:lpstr>4. Hét – kezdőmenü elkészítése</vt:lpstr>
      <vt:lpstr>5. Hét – utolsó simítások, dokumentáció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Aknakereső haladási terv</dc:title>
  <dc:creator>Dániel Zsolt</dc:creator>
  <cp:lastModifiedBy>Varga Dániel Zsolt</cp:lastModifiedBy>
  <cp:revision>9</cp:revision>
  <dcterms:created xsi:type="dcterms:W3CDTF">2026-10-02T07:44:00Z</dcterms:created>
  <dcterms:modified xsi:type="dcterms:W3CDTF">2026-10-13T17:00:34Z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